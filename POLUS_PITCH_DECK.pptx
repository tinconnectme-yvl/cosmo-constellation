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КОСМОХАКАТОН 2026 // КЕЙС 02 · РОСКОСМОС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ПОЛЮС · Орбитальная лаборатория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На краю Земли. В центре связи — устойчивая космическая сеть для Северного морского пути.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328416" cy="256032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28712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❌ НЕТ КАБЕЛЕЙ И ВЫШЕК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Дрейфующие льды и вечная мерзлота делают оптоволокно невозможным. Сотовых вышек в ледяном океане нет.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108960"/>
            <a:ext cx="3328416" cy="256032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3337560"/>
            <a:ext cx="28712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BBF24"/>
                </a:solidFill>
              </a:defRPr>
            </a:pPr>
            <a:r>
              <a:t>❌ ГЕОСТАЦИОНАРЫ СЛЕПЫ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Спутники на высоте 36 000 км висят над экватором. В широтах &gt;70°N они скрываются за горизонтом (угол &lt;10°).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108960"/>
            <a:ext cx="3328416" cy="256032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3337560"/>
            <a:ext cx="28712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❌ «СЛЕПЫЕ ЗОНЫ» ДО 14 ЧАСОВ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Танкеры СПГ и атомные ледоколы неделями идут без интернета и льдопроходимой навигации. Риск катастроф.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Команда: Точка Лагранжа / Нижний Вектор 72  •  Решение: 48 спутников LEO (550 км, накл. 87°) с лазерными линиями ISL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ИНТЕРАКТИВНОЕ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Хватит слайдов. Давайте проверим сеть вживую прямо сейчас!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Что мы покажем за следующие 90 секунд: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1. 3D-Земля и орбитальная группировка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48 малых спутников на высоте 550 км с приполярным охватом широт 65°–72°N.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2. Сквозной лазерный маршрут (ISL)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Кликаем на терминал Урал-Север: сигнал мгновенно передается через космос на Шлюз в Мурманске за 8.2 мс.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3. Стресс-тест: авария спутника прямо в полете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Нажимаем «💥 Отключить спутник» — сеть мгновенно перенаправляет трафик по резервному обходному пути за 0 мс!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4. Сравнение очередей (16 vs 48 КА)</a:t>
            </a:r>
          </a:p>
          <a:p>
            <a:pPr>
              <a:spcAft>
                <a:spcPts val="1000"/>
              </a:spcAft>
              <a:defRPr sz="1150">
                <a:solidFill>
                  <a:srgbClr val="94A3B8"/>
                </a:solidFill>
              </a:defRPr>
            </a:pPr>
            <a:r>
              <a:t>Наглядная дельта: почему 1-я очередь годится только для телеметрии, а 3-я дает связь 24/7.</a:t>
            </a:r>
          </a:p>
        </p:txBody>
      </p:sp>
      <p:pic>
        <p:nvPicPr>
          <p:cNvPr id="5" name="Picture 4" descr="eval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45920"/>
            <a:ext cx="5577840" cy="293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ИНЖЕНЕРНОЕ ЯДРО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Математика, алгоритмы и строгая баллистика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0E1624"/>
          </a:solidFill>
          <a:ln w="1524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🛰️ БАЛЛИСТИКА И ОРБИТЫ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Круговые орбиты 550 км, наклонение 87°, 3 плоскости.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Аналитическое Кеплеровское движение во времени.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Переход ECI → ECEF с учетом вращения Земли (Ω_earth).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Расчет зон видимости терминалов (угол места β ≥ 10°).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0E1624"/>
          </a:solidFill>
          <a:ln w="1524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⚡ ЛАЗЕРНЫЙ БЭКБОН (ISL)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Межспутниковые оптические каналы связи в вакууме.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Проверка видимости «спутник-спутник» без затенения Землей (R = 6371 км).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Динамический граф контактов на каждом шаге времени.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Скорость передачи со скоростью света (задержка &lt;11 мс).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0E1624"/>
          </a:solidFill>
          <a:ln w="1524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🧭 ДВЕ СТРАТЕГИИ МАРШРУТИЗАЦИИ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Min Distance (Dijkstra): минимизация физического расстояния и пинга.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Min Hops (BFS): минимизация числа бортовых переприемов пакетов.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Self-Healing: мгновенный поиск альтернативного обхода при аварии.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Диагностика причин сбоя (NO_CLIENT, ISL_DISCONNECT).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011680"/>
          </a:xfrm>
          <a:prstGeom prst="roundRect">
            <a:avLst/>
          </a:prstGeom>
          <a:solidFill>
            <a:srgbClr val="0E1624"/>
          </a:solidFill>
          <a:ln w="1524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🛡️ АРХИТЕКТУРА И СТАНДАРТЫ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Полная валидация входной схемы cosmo-A-1.0.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Экспорт официального отчета cosmo-A-result-1.0.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Микросервис FastAPI + NumPy (расчет суток за 0.3 сек).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Развертывание в Docker Compose за 1 команду (100% офлайн).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ЭКОНОМИКА И ОБОСНОВАНИЕ РЕКОМЕНДАЦИЙ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Сравнение этапов развертывания и бизнес-эффект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37744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Очередь запуска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Аппаратов (КА)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Доступность связи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Макс. перерыв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Назначение в отрасли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1-я очередь (Старт)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16 аппаратов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38.6 % – 41.2 %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40 – 50 минут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Только пакетная телеметрия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2-я очередь (Развитие)</a:t>
                      </a:r>
                    </a:p>
                  </a:txBody>
                  <a:tcPr>
                    <a:solidFill>
                      <a:srgbClr val="12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32 аппарата</a:t>
                      </a:r>
                    </a:p>
                  </a:txBody>
                  <a:tcPr>
                    <a:solidFill>
                      <a:srgbClr val="12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78.4 % – 82.0 %</a:t>
                      </a:r>
                    </a:p>
                  </a:txBody>
                  <a:tcPr>
                    <a:solidFill>
                      <a:srgbClr val="12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12 – 16 минут</a:t>
                      </a:r>
                    </a:p>
                  </a:txBody>
                  <a:tcPr>
                    <a:solidFill>
                      <a:srgbClr val="121C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Служебный обмен данными</a:t>
                      </a:r>
                    </a:p>
                  </a:txBody>
                  <a:tcPr>
                    <a:solidFill>
                      <a:srgbClr val="121C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3-я очередь (Полная)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48 аппаратов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96.7 % – 98.9 %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2 – 8 минут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</a:defRPr>
                      </a:pPr>
                      <a:r>
                        <a:t>Непрерывный интернет 24/7</a:t>
                      </a:r>
                    </a:p>
                  </a:txBody>
                  <a:tcPr>
                    <a:solidFill>
                      <a:srgbClr val="0E162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931920"/>
            <a:ext cx="3328416" cy="228600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42.3 МЛРД ₽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Предотвращенный ущерб от простоев судов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Один день простоя каравана танкеров с СПГ во льдах стоит десятки миллионов рублей. Непрерывный мониторинг льдов окупает группировку.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931920"/>
            <a:ext cx="3328416" cy="228600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411480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100% ИМПОРТОНЕЗАВИСИМОСТЬ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Суверенная космическая инфраструктура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Полный отказ от зарубежных Iridium/Inmarsat в критически важной стратегической зоне Северного морского пути.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3931920"/>
            <a:ext cx="3328416" cy="228600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411480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0 РУБЛЕЙ НА ДОРАБОТКУ MVP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Готовое рабочее место оператора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Система уже запущена, валидирована тестами и готова к пилотному внедрению в диспетчерских центрах Роскосмоса.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ГОТОВЫ К ВНЕДРЕНИЮ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ПОЛЮС · Система развернута и доступна онлайн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4389120" cy="4297680"/>
          </a:xfrm>
          <a:prstGeom prst="roundRect">
            <a:avLst/>
          </a:prstGeom>
          <a:solidFill>
            <a:srgbClr val="0E162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📲 ЖИВОЙ ВЕБ-СЕРВИС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Отсканируйте с телефона для проверки</a:t>
            </a:r>
          </a:p>
        </p:txBody>
      </p:sp>
      <p:pic>
        <p:nvPicPr>
          <p:cNvPr id="6" name="Picture 5" descr="qr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65176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1206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1F5F9"/>
                </a:solidFill>
              </a:defRPr>
            </a:pPr>
            <a:r>
              <a:t>https://colorado-bytes-aerospace-eric.trycloudflare.com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389120" cy="4297680"/>
          </a:xfrm>
          <a:prstGeom prst="roundRect">
            <a:avLst/>
          </a:prstGeom>
          <a:solidFill>
            <a:srgbClr val="0E1624"/>
          </a:solidFill>
          <a:ln w="19050">
            <a:solidFill>
              <a:srgbClr val="1E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💻 ИСХОДНЫЙ КОД (GITVERSE)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Ветки main и master, Docker, автотесты</a:t>
            </a:r>
          </a:p>
        </p:txBody>
      </p:sp>
      <p:pic>
        <p:nvPicPr>
          <p:cNvPr id="10" name="Picture 9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51760"/>
            <a:ext cx="22860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0" y="512064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1F5F9"/>
                </a:solidFill>
              </a:defRPr>
            </a:pPr>
            <a:r>
              <a:t>https://gitverse.ru/hackrus.experts/kosmo-nizni_vector_72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Спасибо за внимание! Команда «Нижний Вектор 72» готова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